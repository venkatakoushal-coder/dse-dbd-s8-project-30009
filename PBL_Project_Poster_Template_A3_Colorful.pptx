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0693400" cy="15138400"/>
  <p:notesSz cx="15138400" cy="10693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809" autoAdjust="0"/>
    <p:restoredTop sz="94610"/>
  </p:normalViewPr>
  <p:slideViewPr>
    <p:cSldViewPr snapToGrid="0" snapToObjects="1">
      <p:cViewPr varScale="1">
        <p:scale>
          <a:sx n="30" d="100"/>
          <a:sy n="30" d="100"/>
        </p:scale>
        <p:origin x="240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66907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hyperlink" Target="https://klh-bachupally.codetantra.com/secure/home.jsp" TargetMode="External"/><Relationship Id="rId7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10" Type="http://schemas.openxmlformats.org/officeDocument/2006/relationships/image" Target="../media/image6.jpeg"/><Relationship Id="rId4" Type="http://schemas.openxmlformats.org/officeDocument/2006/relationships/hyperlink" Target="https://www.coursera.org/" TargetMode="External"/><Relationship Id="rId9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93908" cy="192024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365760" y="320040"/>
            <a:ext cx="12801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166116" y="320040"/>
            <a:ext cx="164363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KLH Logo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920240" y="228600"/>
            <a:ext cx="86070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EDTECH CROSS PLATFORM FOR STUDENTS AND TEACHERS</a:t>
            </a:r>
            <a:endParaRPr lang="en-US" sz="28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5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ID: 24    Section: 8    Members: K.V.KOUSHAL(2520030009),  Y.CHARAN SAI(2520030173) Guide: DR.RAMYYAKRISHNA DHULIPALLA</a:t>
            </a:r>
            <a:endParaRPr lang="en-US" sz="33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5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Engineering and Distributed Backend Development (25CS1302E)    KLH Bachupally Campus, CSE   PBL 2026-27</a:t>
            </a:r>
            <a:endParaRPr lang="en-US" sz="3350" dirty="0"/>
          </a:p>
        </p:txBody>
      </p:sp>
      <p:sp>
        <p:nvSpPr>
          <p:cNvPr id="6" name="Shape 4"/>
          <p:cNvSpPr/>
          <p:nvPr/>
        </p:nvSpPr>
        <p:spPr>
          <a:xfrm>
            <a:off x="365760" y="2103120"/>
            <a:ext cx="4844034" cy="1645920"/>
          </a:xfrm>
          <a:prstGeom prst="roundRect">
            <a:avLst>
              <a:gd name="adj" fmla="val 4167"/>
            </a:avLst>
          </a:prstGeom>
          <a:solidFill>
            <a:srgbClr val="FEF3C7"/>
          </a:solidFill>
          <a:ln w="9525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502920" y="219456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2560320"/>
            <a:ext cx="456971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IN" sz="1000" dirty="0"/>
              <a:t>Cross Platform Course App for Education &amp; EdTech connects students and educators through a simple digital learning platform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IN" sz="1000" dirty="0"/>
              <a:t>Educators can manage courses, monitor student performance, and provide personalized interventions.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IN" sz="1000" b="1" dirty="0"/>
              <a:t>Main Outcome:</a:t>
            </a:r>
            <a:r>
              <a:rPr lang="en-IN" sz="1000" dirty="0"/>
              <a:t> Provides a personalized and effective learning environment by combining student progress tracking with educator support and intervention.</a:t>
            </a:r>
            <a:endParaRPr lang="en-US" sz="100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spcAft>
                <a:spcPts val="400"/>
              </a:spcAft>
              <a:buSzPct val="100000"/>
            </a:pP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3886200"/>
            <a:ext cx="4844034" cy="2286000"/>
          </a:xfrm>
          <a:prstGeom prst="roundRect">
            <a:avLst>
              <a:gd name="adj" fmla="val 3000"/>
            </a:avLst>
          </a:prstGeom>
          <a:solidFill>
            <a:srgbClr val="FCE7F3"/>
          </a:solidFill>
          <a:ln w="9525">
            <a:solidFill>
              <a:srgbClr val="BE185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502920" y="397764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E18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4343400"/>
            <a:ext cx="4569714" cy="1943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r>
              <a:rPr lang="en-IN" sz="1000" dirty="0"/>
              <a:t>Existing learning platforms mainly provide course content but do not effectively support individual student progress monitoring and educator intervention for students who are struggling or inactive</a:t>
            </a:r>
            <a:r>
              <a:rPr lang="en-IN" sz="1600" dirty="0"/>
              <a:t>. </a:t>
            </a:r>
            <a:endParaRPr lang="en-US" sz="15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1:</a:t>
            </a: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IN" sz="1000" dirty="0"/>
              <a:t>Enable students to create accounts, </a:t>
            </a:r>
            <a:r>
              <a:rPr lang="en-IN" sz="1000" dirty="0" err="1"/>
              <a:t>enroll</a:t>
            </a:r>
            <a:r>
              <a:rPr lang="en-IN" sz="1000" dirty="0"/>
              <a:t> in courses, access learning materials, track progress, and receive course notifications.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2: </a:t>
            </a:r>
            <a:r>
              <a:rPr lang="en-IN" sz="1000" dirty="0"/>
              <a:t>Enable educators to manage courses and monitor student performance and learning activity.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3: </a:t>
            </a:r>
            <a:r>
              <a:rPr lang="en-IN" sz="900" dirty="0"/>
              <a:t>Provide personalized learning support through additional materials, recommendation</a:t>
            </a: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00" dirty="0"/>
          </a:p>
          <a:p>
            <a:pPr>
              <a:spcAft>
                <a:spcPts val="400"/>
              </a:spcAft>
              <a:buSzPct val="100000"/>
            </a:pP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6309360"/>
            <a:ext cx="4844034" cy="3017520"/>
          </a:xfrm>
          <a:prstGeom prst="roundRect">
            <a:avLst>
              <a:gd name="adj" fmla="val 2273"/>
            </a:avLst>
          </a:prstGeom>
          <a:solidFill>
            <a:srgbClr val="DBEAFE"/>
          </a:solidFill>
          <a:ln w="9525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502920" y="640080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vs Proposed System</a:t>
            </a:r>
            <a:endParaRPr lang="en-US" sz="1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7845736"/>
              </p:ext>
            </p:extLst>
          </p:nvPr>
        </p:nvGraphicFramePr>
        <p:xfrm>
          <a:off x="365760" y="6720839"/>
          <a:ext cx="4706873" cy="2805719"/>
        </p:xfrm>
        <a:graphic>
          <a:graphicData uri="http://schemas.openxmlformats.org/drawingml/2006/table">
            <a:tbl>
              <a:tblPr/>
              <a:tblGrid>
                <a:gridCol w="12434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98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175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Existing System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 System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237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buNone/>
                      </a:pPr>
                      <a:r>
                        <a:rPr lang="en-IN" sz="900" dirty="0"/>
                        <a:t>Mainly provides course content and learning resources.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800" dirty="0"/>
                        <a:t>Provides courses along with progress tracking and educator support</a:t>
                      </a:r>
                      <a:r>
                        <a:rPr lang="en-IN" sz="1000" dirty="0"/>
                        <a:t>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9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2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900" dirty="0"/>
                        <a:t>Limited focus on individual student performance.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800" dirty="0"/>
                        <a:t>Monitors individual student progress, assessments, and learning activity.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01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3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000" dirty="0"/>
                        <a:t>Students mostly learn independently.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800" dirty="0"/>
                        <a:t>Educators can actively intervene and support students</a:t>
                      </a:r>
                      <a:r>
                        <a:rPr lang="en-IN" sz="1400" dirty="0"/>
                        <a:t>.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567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4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000" dirty="0"/>
                        <a:t>Limited personalized recommendations.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800" dirty="0"/>
                        <a:t>Provides additional materials and recommendations based on student needs.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68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 / Gap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800" dirty="0"/>
                        <a:t>Students may struggle without timely educator support.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800" dirty="0"/>
                        <a:t>Enables </a:t>
                      </a:r>
                      <a:r>
                        <a:rPr lang="en-IN" sz="800" b="1" dirty="0"/>
                        <a:t>educator intervention and direct support</a:t>
                      </a:r>
                      <a:r>
                        <a:rPr lang="en-IN" sz="800" dirty="0"/>
                        <a:t>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365760" y="9464040"/>
            <a:ext cx="4844034" cy="2971800"/>
          </a:xfrm>
          <a:prstGeom prst="roundRect">
            <a:avLst>
              <a:gd name="adj" fmla="val 2308"/>
            </a:avLst>
          </a:prstGeom>
          <a:solidFill>
            <a:srgbClr val="DCFCE7"/>
          </a:solidFill>
          <a:ln w="9525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 txBox="1"/>
          <p:nvPr/>
        </p:nvSpPr>
        <p:spPr>
          <a:xfrm>
            <a:off x="502920" y="955548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Study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502920" y="9921240"/>
            <a:ext cx="4569714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Technical: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IN" sz="1000" dirty="0"/>
              <a:t>Requires skills in React.js, HTML, CSS, JavaScript, MySQL, and MongoDB, using tools such as VS Code </a:t>
            </a:r>
          </a:p>
          <a:p>
            <a:pPr marL="342900" indent="-342900">
              <a:spcAft>
                <a:spcPts val="400"/>
              </a:spcAft>
              <a:buSzPct val="100000"/>
              <a:buFontTx/>
              <a:buChar char="•"/>
            </a:pPr>
            <a:r>
              <a:rPr lang="en-IN" sz="1000" b="1" dirty="0"/>
              <a:t>Economic:</a:t>
            </a:r>
            <a:r>
              <a:rPr lang="en-IN" sz="1000" dirty="0"/>
              <a:t> Uses mainly open-source technologies and development tools, keeping project costs low. </a:t>
            </a:r>
          </a:p>
          <a:p>
            <a:pPr marL="342900" indent="-342900">
              <a:spcAft>
                <a:spcPts val="400"/>
              </a:spcAft>
              <a:buSzPct val="100000"/>
              <a:buFontTx/>
              <a:buChar char="•"/>
            </a:pPr>
            <a:r>
              <a:rPr lang="en-IN" sz="800" b="1" dirty="0"/>
              <a:t>Operational:</a:t>
            </a:r>
            <a:r>
              <a:rPr lang="en-IN" sz="800" dirty="0"/>
              <a:t> Provides a simple, user-friendly platform for students and educators, with easy course management, progress tracking, and intervention.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IN" sz="1000" b="1" dirty="0"/>
              <a:t>Schedule:</a:t>
            </a:r>
            <a:r>
              <a:rPr lang="en-IN" sz="1000" dirty="0"/>
              <a:t> The project can be developed and completed within the semester timeline by implementing the core modules in stages.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484114" y="2103120"/>
            <a:ext cx="4844034" cy="2286000"/>
          </a:xfrm>
          <a:prstGeom prst="roundRect">
            <a:avLst>
              <a:gd name="adj" fmla="val 3000"/>
            </a:avLst>
          </a:prstGeom>
          <a:solidFill>
            <a:srgbClr val="E0F2FE"/>
          </a:solidFill>
          <a:ln w="9525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 txBox="1"/>
          <p:nvPr/>
        </p:nvSpPr>
        <p:spPr>
          <a:xfrm>
            <a:off x="5621274" y="219456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5620766" y="2560320"/>
            <a:ext cx="456971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/>
            <a:r>
              <a:rPr lang="en-IN" sz="1100" b="1" dirty="0"/>
              <a:t>Front-End:</a:t>
            </a:r>
            <a:r>
              <a:rPr lang="en-IN" sz="1100" dirty="0"/>
              <a:t> React.js  HTML, CSS &amp; JavaScript </a:t>
            </a:r>
          </a:p>
          <a:p>
            <a:pPr lvl="0"/>
            <a:r>
              <a:rPr lang="en-IN" sz="1100" b="1" dirty="0"/>
              <a:t>Back-End: </a:t>
            </a:r>
            <a:r>
              <a:rPr lang="en-IN" sz="1100" dirty="0"/>
              <a:t>Nodejs, </a:t>
            </a:r>
            <a:r>
              <a:rPr lang="en-IN" sz="1100" dirty="0" err="1"/>
              <a:t>Expressjs</a:t>
            </a:r>
            <a:r>
              <a:rPr lang="en-IN" sz="1100" dirty="0"/>
              <a:t>, </a:t>
            </a:r>
            <a:r>
              <a:rPr lang="en-IN" sz="1100" dirty="0" err="1"/>
              <a:t>RestApi</a:t>
            </a:r>
            <a:endParaRPr lang="en-IN" sz="1100" dirty="0"/>
          </a:p>
          <a:p>
            <a:pPr lvl="0"/>
            <a:r>
              <a:rPr lang="en-IN" sz="1100" b="1" dirty="0"/>
              <a:t>Database:</a:t>
            </a:r>
            <a:r>
              <a:rPr lang="en-IN" sz="1100" dirty="0"/>
              <a:t> MYSQL</a:t>
            </a:r>
          </a:p>
          <a:p>
            <a:pPr lvl="0"/>
            <a:r>
              <a:rPr lang="en-IN" sz="1100" b="1" dirty="0"/>
              <a:t>Tools:</a:t>
            </a:r>
            <a:r>
              <a:rPr lang="en-IN" sz="1100" dirty="0"/>
              <a:t> Git &amp; GitHub, VS Code,  Draw.io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5484114" y="4526280"/>
            <a:ext cx="4844034" cy="2743200"/>
          </a:xfrm>
          <a:prstGeom prst="roundRect">
            <a:avLst>
              <a:gd name="adj" fmla="val 2500"/>
            </a:avLst>
          </a:prstGeom>
          <a:solidFill>
            <a:srgbClr val="EDE9FE"/>
          </a:solidFill>
          <a:ln w="9525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 txBox="1"/>
          <p:nvPr/>
        </p:nvSpPr>
        <p:spPr>
          <a:xfrm>
            <a:off x="5621274" y="461772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5621274" y="4983480"/>
            <a:ext cx="4569714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6D28D9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 txBox="1"/>
          <p:nvPr/>
        </p:nvSpPr>
        <p:spPr>
          <a:xfrm>
            <a:off x="5621274" y="4983480"/>
            <a:ext cx="4569714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5484114" y="7406640"/>
            <a:ext cx="4844034" cy="2514600"/>
          </a:xfrm>
          <a:prstGeom prst="roundRect">
            <a:avLst>
              <a:gd name="adj" fmla="val 2727"/>
            </a:avLst>
          </a:prstGeom>
          <a:solidFill>
            <a:srgbClr val="FFEDD5"/>
          </a:solidFill>
          <a:ln w="9525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3"/>
          <p:cNvSpPr txBox="1"/>
          <p:nvPr/>
        </p:nvSpPr>
        <p:spPr>
          <a:xfrm>
            <a:off x="5621274" y="749808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 &amp; Database Design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5621274" y="7863840"/>
            <a:ext cx="4569714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C2410C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5"/>
          <p:cNvSpPr txBox="1"/>
          <p:nvPr/>
        </p:nvSpPr>
        <p:spPr>
          <a:xfrm>
            <a:off x="5621274" y="7863840"/>
            <a:ext cx="4569714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5484114" y="10058400"/>
            <a:ext cx="4844034" cy="2377440"/>
          </a:xfrm>
          <a:prstGeom prst="roundRect">
            <a:avLst>
              <a:gd name="adj" fmla="val 2885"/>
            </a:avLst>
          </a:prstGeom>
          <a:solidFill>
            <a:srgbClr val="CCFBF1"/>
          </a:solidFill>
          <a:ln w="9525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7"/>
          <p:cNvSpPr txBox="1"/>
          <p:nvPr/>
        </p:nvSpPr>
        <p:spPr>
          <a:xfrm>
            <a:off x="5621274" y="1014984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Screenshots</a:t>
            </a:r>
            <a:endParaRPr lang="en-US" sz="1800" dirty="0"/>
          </a:p>
        </p:txBody>
      </p:sp>
      <p:sp>
        <p:nvSpPr>
          <p:cNvPr id="31" name="Shape 28"/>
          <p:cNvSpPr/>
          <p:nvPr/>
        </p:nvSpPr>
        <p:spPr>
          <a:xfrm>
            <a:off x="5621274" y="10515600"/>
            <a:ext cx="2216277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0F766E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29"/>
          <p:cNvSpPr txBox="1"/>
          <p:nvPr/>
        </p:nvSpPr>
        <p:spPr>
          <a:xfrm>
            <a:off x="5621274" y="10515600"/>
            <a:ext cx="2216277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[Screenshot 1]</a:t>
            </a:r>
            <a:endParaRPr lang="en-US" sz="1250" dirty="0"/>
          </a:p>
        </p:txBody>
      </p:sp>
      <p:sp>
        <p:nvSpPr>
          <p:cNvPr id="33" name="Shape 30"/>
          <p:cNvSpPr/>
          <p:nvPr/>
        </p:nvSpPr>
        <p:spPr>
          <a:xfrm>
            <a:off x="7974711" y="10515600"/>
            <a:ext cx="2216277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0F766E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1"/>
          <p:cNvSpPr txBox="1"/>
          <p:nvPr/>
        </p:nvSpPr>
        <p:spPr>
          <a:xfrm>
            <a:off x="7974711" y="10515600"/>
            <a:ext cx="2216277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[Screenshot 2]</a:t>
            </a:r>
            <a:endParaRPr lang="en-US" sz="1250" dirty="0"/>
          </a:p>
        </p:txBody>
      </p:sp>
      <p:sp>
        <p:nvSpPr>
          <p:cNvPr id="35" name="Shape 32"/>
          <p:cNvSpPr/>
          <p:nvPr/>
        </p:nvSpPr>
        <p:spPr>
          <a:xfrm>
            <a:off x="365760" y="12573000"/>
            <a:ext cx="3137916" cy="1645920"/>
          </a:xfrm>
          <a:prstGeom prst="roundRect">
            <a:avLst>
              <a:gd name="adj" fmla="val 4167"/>
            </a:avLst>
          </a:prstGeom>
          <a:solidFill>
            <a:srgbClr val="FEE2E2"/>
          </a:solidFill>
          <a:ln w="9525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3"/>
          <p:cNvSpPr txBox="1"/>
          <p:nvPr/>
        </p:nvSpPr>
        <p:spPr>
          <a:xfrm>
            <a:off x="502920" y="12664440"/>
            <a:ext cx="28635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Testing</a:t>
            </a:r>
            <a:endParaRPr lang="en-US" sz="1800" dirty="0"/>
          </a:p>
        </p:txBody>
      </p:sp>
      <p:sp>
        <p:nvSpPr>
          <p:cNvPr id="37" name="Text 34"/>
          <p:cNvSpPr txBox="1"/>
          <p:nvPr/>
        </p:nvSpPr>
        <p:spPr>
          <a:xfrm>
            <a:off x="502920" y="13030200"/>
            <a:ext cx="28635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/>
            <a:r>
              <a:rPr lang="en-IN" sz="800" dirty="0"/>
              <a:t>CRUD: Successfully supports Create, Read, Update, and Delete operations for users, courses, learning materials, and related records. </a:t>
            </a:r>
          </a:p>
          <a:p>
            <a:pPr lvl="0"/>
            <a:r>
              <a:rPr lang="en-IN" sz="800" dirty="0"/>
              <a:t>Validation: Validates user inputs and required fields to maintain accurate and consistent data. </a:t>
            </a:r>
          </a:p>
          <a:p>
            <a:pPr lvl="0"/>
            <a:r>
              <a:rPr lang="en-IN" sz="800" dirty="0"/>
              <a:t>Performance: Provides efficient data storage, retrieval, and progress tracking through the database-backed application. </a:t>
            </a:r>
          </a:p>
          <a:p>
            <a:pPr lvl="0"/>
            <a:r>
              <a:rPr lang="en-IN" sz="800" dirty="0"/>
              <a:t>Key Outcome: Enables students to access courses and track progress while educators can monitor performance and provide interventions.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3777996" y="12573000"/>
            <a:ext cx="3137916" cy="1645920"/>
          </a:xfrm>
          <a:prstGeom prst="roundRect">
            <a:avLst>
              <a:gd name="adj" fmla="val 4167"/>
            </a:avLst>
          </a:prstGeom>
          <a:solidFill>
            <a:srgbClr val="ECFCCB"/>
          </a:solidFill>
          <a:ln w="9525">
            <a:solidFill>
              <a:srgbClr val="4D7C0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6"/>
          <p:cNvSpPr txBox="1"/>
          <p:nvPr/>
        </p:nvSpPr>
        <p:spPr>
          <a:xfrm>
            <a:off x="3915156" y="12664440"/>
            <a:ext cx="28635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D7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800" dirty="0"/>
          </a:p>
        </p:txBody>
      </p:sp>
      <p:sp>
        <p:nvSpPr>
          <p:cNvPr id="40" name="Text 37"/>
          <p:cNvSpPr txBox="1"/>
          <p:nvPr/>
        </p:nvSpPr>
        <p:spPr>
          <a:xfrm>
            <a:off x="3915156" y="13030200"/>
            <a:ext cx="28635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/>
            <a:r>
              <a:rPr lang="en-IN" sz="800" b="1" dirty="0"/>
              <a:t>What was achieved:</a:t>
            </a:r>
            <a:r>
              <a:rPr lang="en-IN" sz="800" dirty="0"/>
              <a:t> Developed a learning platform that connects students and educators, supporting course </a:t>
            </a:r>
            <a:r>
              <a:rPr lang="en-IN" sz="800" dirty="0" err="1"/>
              <a:t>enrollment</a:t>
            </a:r>
            <a:r>
              <a:rPr lang="en-IN" sz="800" dirty="0"/>
              <a:t>, learning materials, progress tracking, performance monitoring, and educator intervention. </a:t>
            </a:r>
          </a:p>
          <a:p>
            <a:pPr lvl="0"/>
            <a:r>
              <a:rPr lang="en-IN" sz="800" b="1" dirty="0"/>
              <a:t>How it meets the objectives:</a:t>
            </a:r>
            <a:r>
              <a:rPr lang="en-IN" sz="800" dirty="0"/>
              <a:t> Students can access and track learning activities, while educators can monitor student performance and provide additional materials, recommendations, and direct support when required.</a:t>
            </a:r>
          </a:p>
          <a:p>
            <a:pPr>
              <a:spcAft>
                <a:spcPts val="400"/>
              </a:spcAft>
              <a:buSzPct val="100000"/>
            </a:pPr>
            <a:endParaRPr lang="en-US" sz="800" dirty="0"/>
          </a:p>
        </p:txBody>
      </p:sp>
      <p:sp>
        <p:nvSpPr>
          <p:cNvPr id="41" name="Shape 38"/>
          <p:cNvSpPr/>
          <p:nvPr/>
        </p:nvSpPr>
        <p:spPr>
          <a:xfrm>
            <a:off x="7190232" y="12573000"/>
            <a:ext cx="3137916" cy="1645920"/>
          </a:xfrm>
          <a:prstGeom prst="roundRect">
            <a:avLst>
              <a:gd name="adj" fmla="val 4167"/>
            </a:avLst>
          </a:prstGeom>
          <a:solidFill>
            <a:srgbClr val="FAE8FF"/>
          </a:solidFill>
          <a:ln w="9525">
            <a:solidFill>
              <a:srgbClr val="A21CA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39"/>
          <p:cNvSpPr txBox="1"/>
          <p:nvPr/>
        </p:nvSpPr>
        <p:spPr>
          <a:xfrm>
            <a:off x="7327392" y="12664440"/>
            <a:ext cx="28635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21C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800" dirty="0"/>
          </a:p>
        </p:txBody>
      </p:sp>
      <p:sp>
        <p:nvSpPr>
          <p:cNvPr id="43" name="Text 40"/>
          <p:cNvSpPr txBox="1"/>
          <p:nvPr/>
        </p:nvSpPr>
        <p:spPr>
          <a:xfrm>
            <a:off x="7327392" y="13030200"/>
            <a:ext cx="28635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/>
            <a:r>
              <a:rPr lang="en-IN" sz="1000" b="1" dirty="0"/>
              <a:t>Enhancement 1:</a:t>
            </a:r>
            <a:r>
              <a:rPr lang="en-IN" sz="1000" dirty="0"/>
              <a:t> Add AI-based personalized learning recommendations based on student performance and learning activity. </a:t>
            </a:r>
          </a:p>
          <a:p>
            <a:pPr lvl="0"/>
            <a:r>
              <a:rPr lang="en-IN" sz="1000" b="1" dirty="0"/>
              <a:t>Enhancement 2:</a:t>
            </a:r>
            <a:r>
              <a:rPr lang="en-IN" sz="1000" dirty="0"/>
              <a:t>Introduce advanced analytics and dashboards for educators to identify struggling or inactive students more effectively..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000" dirty="0"/>
          </a:p>
        </p:txBody>
      </p:sp>
      <p:sp>
        <p:nvSpPr>
          <p:cNvPr id="44" name="Text 41"/>
          <p:cNvSpPr txBox="1"/>
          <p:nvPr/>
        </p:nvSpPr>
        <p:spPr>
          <a:xfrm>
            <a:off x="365760" y="14356080"/>
            <a:ext cx="76763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References: </a:t>
            </a: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https://klh-bachupally.codetantra.com/secure/home.jsp</a:t>
            </a:r>
            <a:endParaRPr lang="en-US" sz="1100" b="1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   </a:t>
            </a: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https://www.coursera.</a:t>
            </a:r>
            <a:r>
              <a:rPr lang="en-US" sz="11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org/</a:t>
            </a:r>
            <a:endParaRPr lang="en-US" sz="1100" b="1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100" b="1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9505188" y="14264640"/>
            <a:ext cx="8229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94A3B8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3"/>
          <p:cNvSpPr txBox="1"/>
          <p:nvPr/>
        </p:nvSpPr>
        <p:spPr>
          <a:xfrm>
            <a:off x="9153525" y="14264640"/>
            <a:ext cx="1174623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pic>
        <p:nvPicPr>
          <p:cNvPr id="47" name="Picture 46" descr="MAPS &amp; DIRECTIONS - Best Private University in Telangana ...">
            <a:extLst>
              <a:ext uri="{FF2B5EF4-FFF2-40B4-BE49-F238E27FC236}">
                <a16:creationId xmlns:a16="http://schemas.microsoft.com/office/drawing/2014/main" id="{BCF8E8D3-F971-F0EF-F90A-924DBB7406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59" y="-498164"/>
            <a:ext cx="1280160" cy="2372684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E69BC107-3DC7-6DAB-A033-E11A72694B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53550" y="14310360"/>
            <a:ext cx="1329880" cy="77724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6E4E37CF-CB6E-7474-C193-7E60060BCA2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6638" y="7955280"/>
            <a:ext cx="4077462" cy="1783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1DCEA3DA-C73A-878C-4E53-8DF2FC29D56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4114" y="10515600"/>
            <a:ext cx="2353437" cy="1753378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82CC325D-EA13-5CCA-C938-2F3FBD9BFDC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74711" y="10515600"/>
            <a:ext cx="2215769" cy="1753379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07544462-138D-6B2D-4E50-BEB95749A99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4114" y="4983480"/>
            <a:ext cx="4848225" cy="22562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</TotalTime>
  <Words>642</Words>
  <Application>Microsoft Office PowerPoint</Application>
  <PresentationFormat>Custom</PresentationFormat>
  <Paragraphs>63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yerrapragadacharansai@gmail.com</cp:lastModifiedBy>
  <cp:revision>7</cp:revision>
  <dcterms:created xsi:type="dcterms:W3CDTF">2026-09-28T08:11:17Z</dcterms:created>
  <dcterms:modified xsi:type="dcterms:W3CDTF">2026-09-30T10:09:36Z</dcterms:modified>
</cp:coreProperties>
</file>